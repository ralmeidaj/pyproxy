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94360"/>
            <a:ext cx="4663440" cy="457200"/>
          </a:xfrm>
          <a:prstGeom prst="roundRect">
            <a:avLst>
              <a:gd name="adj" fmla="val 50000"/>
            </a:avLst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CAPACITAÇÃO · COMERCIAL E TÉCNICO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a PayProxy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566928" y="283464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aplicação de arrecadação municipal — e por que o BaaS (a PjBank) é nosso parceiro, não nosso concorrente.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66928" y="452628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uma linha: </a:t>
            </a:r>
            <a:pPr indent="0" marL="0">
              <a:buNone/>
            </a:pPr>
            <a:r>
              <a:rPr lang="en-US" sz="140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prefeitura manda a base (IPTU, TFF, ISS autônomo); a PayProxy trata e orquestra; o BaaS emite e liquida; a PayProxy concilia, cobra e mostra ao gestor.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interno · Julho/2026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ESTA APRESENTAÇÃO EXISTE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 equipe está confundindo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023360"/>
          </a:xfrm>
          <a:prstGeom prst="roundRect">
            <a:avLst>
              <a:gd name="adj" fmla="val 2273"/>
            </a:avLst>
          </a:prstGeom>
          <a:solidFill>
            <a:srgbClr val="FBF1EF"/>
          </a:solidFill>
          <a:ln w="19050">
            <a:solidFill>
              <a:srgbClr val="B23A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CONFUSÃO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i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 PayProxy faz o que a PjBank / o BaaS faz — emitir boleto e receber. Então estamos construindo um concorrente do BaaS.”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429768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o time trata um fornecedor como rival e não sabe explicar o que, de fato, a PayProxy vende.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600200"/>
            <a:ext cx="5394960" cy="4023360"/>
          </a:xfrm>
          <a:prstGeom prst="roundRect">
            <a:avLst>
              <a:gd name="adj" fmla="val 2273"/>
            </a:avLst>
          </a:prstGeom>
          <a:solidFill>
            <a:srgbClr val="EAF4EE"/>
          </a:solidFill>
          <a:ln w="19050">
            <a:solidFill>
              <a:srgbClr val="1E7A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8288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DE FATO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92240" y="2286000"/>
            <a:ext cx="48463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BaaS emite e liquida — uma etapa. A PayProxy é a aplicação de arrecadação inteira em volta disso: recebe a base do IPTU, calcula, orquestra, concilia, cobra e mostra ao gestor.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457200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material mostra a aplicação, as camadas e as funcionalidades — para alinhar a equipe.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PayProxy · Uso interno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APLICAÇÃO EM FUNCIONAMENTO · IPTU, TFF, ISS AUTÔNOMO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caminho do dado — e onde o BaaS entra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084832" cy="2651760"/>
          </a:xfrm>
          <a:prstGeom prst="roundRect">
            <a:avLst>
              <a:gd name="adj" fmla="val 4386"/>
            </a:avLst>
          </a:prstGeom>
          <a:solidFill>
            <a:srgbClr val="F4F7FB"/>
          </a:solidFill>
          <a:ln w="12700">
            <a:solidFill>
              <a:srgbClr val="E1E9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2029968"/>
            <a:ext cx="175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Prefeitura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13232" y="2606040"/>
            <a:ext cx="1755648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 a base: contribuintes e cadastros — IPTU, TFF e ISS autônomo.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615184" y="2788920"/>
            <a:ext cx="1965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93492" y="1828800"/>
            <a:ext cx="2084832" cy="2651760"/>
          </a:xfrm>
          <a:prstGeom prst="roundRect">
            <a:avLst>
              <a:gd name="adj" fmla="val 4386"/>
            </a:avLst>
          </a:prstGeom>
          <a:solidFill>
            <a:srgbClr val="F4F7FB"/>
          </a:solidFill>
          <a:ln w="12700">
            <a:solidFill>
              <a:srgbClr val="E1E9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58084" y="2029968"/>
            <a:ext cx="175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PayProxy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958084" y="2606040"/>
            <a:ext cx="1755648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Recebe, higieniza, calcula multa/juros e decide a régua de cobrança.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860036" y="2788920"/>
            <a:ext cx="1965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5038344" y="1828800"/>
            <a:ext cx="2084832" cy="2651760"/>
          </a:xfrm>
          <a:prstGeom prst="roundRect">
            <a:avLst>
              <a:gd name="adj" fmla="val 4386"/>
            </a:avLst>
          </a:prstGeom>
          <a:solidFill>
            <a:srgbClr val="FBF3E0"/>
          </a:solidFill>
          <a:ln w="25400">
            <a:solidFill>
              <a:srgbClr val="B886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02936" y="2029968"/>
            <a:ext cx="175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BaaS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202936" y="2606040"/>
            <a:ext cx="1755648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Emite o boleto registrado, o PIX e o DDA — e liquida o pagamento.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202936" y="4096512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trilho / fornecedor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104888" y="2788920"/>
            <a:ext cx="1965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7283196" y="1828800"/>
            <a:ext cx="2084832" cy="2651760"/>
          </a:xfrm>
          <a:prstGeom prst="roundRect">
            <a:avLst>
              <a:gd name="adj" fmla="val 4386"/>
            </a:avLst>
          </a:prstGeom>
          <a:solidFill>
            <a:srgbClr val="F4F7FB"/>
          </a:solidFill>
          <a:ln w="12700">
            <a:solidFill>
              <a:srgbClr val="E1E9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47788" y="2029968"/>
            <a:ext cx="175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· PayProxy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447788" y="2606040"/>
            <a:ext cx="1755648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Concilia, dá baixa, cobra pelos 3 canais e monta o BI.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349740" y="2788920"/>
            <a:ext cx="1965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9528048" y="1828800"/>
            <a:ext cx="2084832" cy="2651760"/>
          </a:xfrm>
          <a:prstGeom prst="roundRect">
            <a:avLst>
              <a:gd name="adj" fmla="val 4386"/>
            </a:avLst>
          </a:prstGeom>
          <a:solidFill>
            <a:srgbClr val="F4F7FB"/>
          </a:solidFill>
          <a:ln w="12700">
            <a:solidFill>
              <a:srgbClr val="E1E9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92640" y="2029968"/>
            <a:ext cx="175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· Gestão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692640" y="2606040"/>
            <a:ext cx="1755648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Secretário e gestão tributária enxergam e decidem.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892040"/>
            <a:ext cx="11064240" cy="1097280"/>
          </a:xfrm>
          <a:prstGeom prst="roundRect">
            <a:avLst>
              <a:gd name="adj" fmla="val 8333"/>
            </a:avLst>
          </a:prstGeom>
          <a:solidFill>
            <a:srgbClr val="0E2A47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5074920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9DE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leitura:  </a:t>
            </a:r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BaaS ocupa UMA caixa — emitir e liquidar. Todo o resto (receber a base, calcular, conciliar, cobrar, mostrar) é a PayProxy. Por isso ele é parceiro, não concorrente.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PayProxy · Uso interno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CAMADAS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o BaaS faz × o que a PayProxy faz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4572000" cy="4480560"/>
          </a:xfrm>
          <a:prstGeom prst="roundRect">
            <a:avLst>
              <a:gd name="adj" fmla="val 2041"/>
            </a:avLst>
          </a:prstGeom>
          <a:solidFill>
            <a:srgbClr val="FBF3E0"/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830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BaaS (PjBank) faz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infraestrutura de pagamento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68680" y="2660904"/>
            <a:ext cx="128016" cy="128016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5603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o boleto na Núclea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68680" y="3282696"/>
            <a:ext cx="128016" cy="128016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18211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 o PIX (BR Code dinâmico)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68680" y="3904488"/>
            <a:ext cx="128016" cy="128016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3803904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 o DDA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68680" y="4526280"/>
            <a:ext cx="128016" cy="128016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4425696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Liquida o pagamento (credita a conta)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68680" y="5148072"/>
            <a:ext cx="128016" cy="128016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504748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Devolve o arquivo de retorno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349240" y="1554480"/>
            <a:ext cx="6263640" cy="4480560"/>
          </a:xfrm>
          <a:prstGeom prst="roundRect">
            <a:avLst>
              <a:gd name="adj" fmla="val 2041"/>
            </a:avLst>
          </a:prstGeom>
          <a:solidFill>
            <a:srgbClr val="EAF4EE"/>
          </a:solidFill>
          <a:ln w="19050">
            <a:solidFill>
              <a:srgbClr val="1E7A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23560" y="178308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7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PayProxy faz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623560" y="214884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aplicação de arrecadação inteira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23560" y="2660904"/>
            <a:ext cx="118872" cy="118872"/>
          </a:xfrm>
          <a:prstGeom prst="ellipse">
            <a:avLst/>
          </a:prstGeom>
          <a:solidFill>
            <a:srgbClr val="1E7A46"/>
          </a:solidFill>
          <a:ln/>
        </p:spPr>
      </p:sp>
      <p:sp>
        <p:nvSpPr>
          <p:cNvPr id="21" name="Text 19"/>
          <p:cNvSpPr/>
          <p:nvPr/>
        </p:nvSpPr>
        <p:spPr>
          <a:xfrm>
            <a:off x="5852160" y="25603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 e higieniza a base do município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366760" y="2660904"/>
            <a:ext cx="118872" cy="118872"/>
          </a:xfrm>
          <a:prstGeom prst="ellipse">
            <a:avLst/>
          </a:prstGeom>
          <a:solidFill>
            <a:srgbClr val="1E7A46"/>
          </a:solidFill>
          <a:ln/>
        </p:spPr>
      </p:sp>
      <p:sp>
        <p:nvSpPr>
          <p:cNvPr id="23" name="Text 21"/>
          <p:cNvSpPr/>
          <p:nvPr/>
        </p:nvSpPr>
        <p:spPr>
          <a:xfrm>
            <a:off x="8595360" y="25603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 ao sistema tributário (GRP)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23560" y="3227832"/>
            <a:ext cx="118872" cy="118872"/>
          </a:xfrm>
          <a:prstGeom prst="ellipse">
            <a:avLst/>
          </a:prstGeom>
          <a:solidFill>
            <a:srgbClr val="1E7A46"/>
          </a:solidFill>
          <a:ln/>
        </p:spPr>
      </p:sp>
      <p:sp>
        <p:nvSpPr>
          <p:cNvPr id="25" name="Text 23"/>
          <p:cNvSpPr/>
          <p:nvPr/>
        </p:nvSpPr>
        <p:spPr>
          <a:xfrm>
            <a:off x="5852160" y="312724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o débito (multa, juros, desconto)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366760" y="3227832"/>
            <a:ext cx="118872" cy="118872"/>
          </a:xfrm>
          <a:prstGeom prst="ellipse">
            <a:avLst/>
          </a:prstGeom>
          <a:solidFill>
            <a:srgbClr val="1E7A46"/>
          </a:solidFill>
          <a:ln/>
        </p:spPr>
      </p:sp>
      <p:sp>
        <p:nvSpPr>
          <p:cNvPr id="27" name="Text 25"/>
          <p:cNvSpPr/>
          <p:nvPr/>
        </p:nvSpPr>
        <p:spPr>
          <a:xfrm>
            <a:off x="8595360" y="312724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Orquestra a emissão — aciona o BaaS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623560" y="3794760"/>
            <a:ext cx="118872" cy="118872"/>
          </a:xfrm>
          <a:prstGeom prst="ellipse">
            <a:avLst/>
          </a:prstGeom>
          <a:solidFill>
            <a:srgbClr val="1E7A46"/>
          </a:solidFill>
          <a:ln/>
        </p:spPr>
      </p:sp>
      <p:sp>
        <p:nvSpPr>
          <p:cNvPr id="29" name="Text 27"/>
          <p:cNvSpPr/>
          <p:nvPr/>
        </p:nvSpPr>
        <p:spPr>
          <a:xfrm>
            <a:off x="5852160" y="3694176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Concilia e dá baixa da guia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366760" y="3794760"/>
            <a:ext cx="118872" cy="118872"/>
          </a:xfrm>
          <a:prstGeom prst="ellipse">
            <a:avLst/>
          </a:prstGeom>
          <a:solidFill>
            <a:srgbClr val="1E7A46"/>
          </a:solidFill>
          <a:ln/>
        </p:spPr>
      </p:sp>
      <p:sp>
        <p:nvSpPr>
          <p:cNvPr id="31" name="Text 29"/>
          <p:cNvSpPr/>
          <p:nvPr/>
        </p:nvSpPr>
        <p:spPr>
          <a:xfrm>
            <a:off x="8595360" y="3694176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 ativamente (DDA, e-mail, WhatsApp)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623560" y="4361688"/>
            <a:ext cx="118872" cy="118872"/>
          </a:xfrm>
          <a:prstGeom prst="ellipse">
            <a:avLst/>
          </a:prstGeom>
          <a:solidFill>
            <a:srgbClr val="1E7A46"/>
          </a:solidFill>
          <a:ln/>
        </p:spPr>
      </p:sp>
      <p:sp>
        <p:nvSpPr>
          <p:cNvPr id="33" name="Text 31"/>
          <p:cNvSpPr/>
          <p:nvPr/>
        </p:nvSpPr>
        <p:spPr>
          <a:xfrm>
            <a:off x="5852160" y="4261104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 receita e inadimplência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366760" y="4361688"/>
            <a:ext cx="118872" cy="118872"/>
          </a:xfrm>
          <a:prstGeom prst="ellipse">
            <a:avLst/>
          </a:prstGeom>
          <a:solidFill>
            <a:srgbClr val="1E7A46"/>
          </a:solidFill>
          <a:ln/>
        </p:spPr>
      </p:sp>
      <p:sp>
        <p:nvSpPr>
          <p:cNvPr id="35" name="Text 33"/>
          <p:cNvSpPr/>
          <p:nvPr/>
        </p:nvSpPr>
        <p:spPr>
          <a:xfrm>
            <a:off x="8595360" y="4261104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os painéis de gestão (BI)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623560" y="4928616"/>
            <a:ext cx="118872" cy="118872"/>
          </a:xfrm>
          <a:prstGeom prst="ellipse">
            <a:avLst/>
          </a:prstGeom>
          <a:solidFill>
            <a:srgbClr val="1E7A46"/>
          </a:solidFill>
          <a:ln/>
        </p:spPr>
      </p:sp>
      <p:sp>
        <p:nvSpPr>
          <p:cNvPr id="37" name="Text 35"/>
          <p:cNvSpPr/>
          <p:nvPr/>
        </p:nvSpPr>
        <p:spPr>
          <a:xfrm>
            <a:off x="5852160" y="482803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 a LGPD e presta contas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623560" y="553212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BaaS responde “como o dinheiro entra na conta”. A PayProxy responde “o que se cobra, de quem, como, e o que se faz com o dado depois”.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PayProxy · Uso interno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PLATAFORMA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 PayProxy faz — seis frentes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29584" cy="1874520"/>
          </a:xfrm>
          <a:prstGeom prst="roundRect">
            <a:avLst>
              <a:gd name="adj" fmla="val 4390"/>
            </a:avLst>
          </a:prstGeom>
          <a:solidFill>
            <a:srgbClr val="F4F7FB"/>
          </a:solidFill>
          <a:ln w="12700">
            <a:solidFill>
              <a:srgbClr val="E1E9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66420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Emissão e registro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04672" y="2176272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Boleto registrado na CIP/Núclea com PIX (BR Code dinâmico) e atualização automática de multa e juros.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15968" y="1463040"/>
            <a:ext cx="3529584" cy="1874520"/>
          </a:xfrm>
          <a:prstGeom prst="roundRect">
            <a:avLst>
              <a:gd name="adj" fmla="val 4390"/>
            </a:avLst>
          </a:prstGeom>
          <a:solidFill>
            <a:srgbClr val="F4F7FB"/>
          </a:solidFill>
          <a:ln w="12700">
            <a:solidFill>
              <a:srgbClr val="E1E9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166420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Cobrança ativa multicanal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572000" y="2176272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DDA no app do banco, e-mail registrado com validade jurídica e WhatsApp oficial verificado.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83296" y="1463040"/>
            <a:ext cx="3529584" cy="1874520"/>
          </a:xfrm>
          <a:prstGeom prst="roundRect">
            <a:avLst>
              <a:gd name="adj" fmla="val 4390"/>
            </a:avLst>
          </a:prstGeom>
          <a:solidFill>
            <a:srgbClr val="F4F7FB"/>
          </a:solidFill>
          <a:ln w="12700">
            <a:solidFill>
              <a:srgbClr val="E1E9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39328" y="166420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Conciliação automática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339328" y="2176272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único de retorno, baixa automática D+0 e integração com o sistema tributário do município.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520440"/>
            <a:ext cx="3529584" cy="1874520"/>
          </a:xfrm>
          <a:prstGeom prst="roundRect">
            <a:avLst>
              <a:gd name="adj" fmla="val 4390"/>
            </a:avLst>
          </a:prstGeom>
          <a:solidFill>
            <a:srgbClr val="F4F7FB"/>
          </a:solidFill>
          <a:ln w="12700">
            <a:solidFill>
              <a:srgbClr val="E1E9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372160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 em tempo real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04672" y="4233672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Painéis executivos de arrecadação, inadimplência e efetividade de canal para a gestão.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15968" y="3520440"/>
            <a:ext cx="3529584" cy="1874520"/>
          </a:xfrm>
          <a:prstGeom prst="roundRect">
            <a:avLst>
              <a:gd name="adj" fmla="val 4390"/>
            </a:avLst>
          </a:prstGeom>
          <a:solidFill>
            <a:srgbClr val="F4F7FB"/>
          </a:solidFill>
          <a:ln w="12700">
            <a:solidFill>
              <a:srgbClr val="E1E9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372160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LGPD embarcada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4572000" y="4233672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by design: base legal mapeada, minimização, criptografia, trilhas de auditoria e direitos do titular.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83296" y="3520440"/>
            <a:ext cx="3529584" cy="1874520"/>
          </a:xfrm>
          <a:prstGeom prst="roundRect">
            <a:avLst>
              <a:gd name="adj" fmla="val 4390"/>
            </a:avLst>
          </a:prstGeom>
          <a:solidFill>
            <a:srgbClr val="F4F7FB"/>
          </a:solidFill>
          <a:ln w="12700">
            <a:solidFill>
              <a:srgbClr val="E1E9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39328" y="372160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Integração sem ruptura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8339328" y="4233672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APIs, webservices e arquivos CNAB 240/400 — convive com o ERP tributário atual da prefeitura.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Tributos no escopo: IPTU, TFF e ISS autônomo — recorrentes e cadastrais, na mesma esteira · Fonte: institucional PayProxy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108960" cy="384048"/>
          </a:xfrm>
          <a:prstGeom prst="roundRect">
            <a:avLst>
              <a:gd name="adj" fmla="val 14286"/>
            </a:avLst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9DE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O CORAÇÃO DA APLICAÇÃO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de funcionalidades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529584" cy="1783080"/>
          </a:xfrm>
          <a:prstGeom prst="roundRect">
            <a:avLst>
              <a:gd name="adj" fmla="val 5128"/>
            </a:avLst>
          </a:prstGeom>
          <a:solidFill>
            <a:srgbClr val="1B3A5C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2048256"/>
            <a:ext cx="475488" cy="475488"/>
          </a:xfrm>
          <a:prstGeom prst="ellipse">
            <a:avLst/>
          </a:prstGeom>
          <a:solidFill>
            <a:srgbClr val="E8F0FB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0482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08176" y="2066544"/>
            <a:ext cx="2478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Ingestão e cadastro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04672" y="2651760"/>
            <a:ext cx="749808" cy="246888"/>
          </a:xfrm>
          <a:prstGeom prst="roundRect">
            <a:avLst>
              <a:gd name="adj" fmla="val 14815"/>
            </a:avLst>
          </a:prstGeom>
          <a:solidFill>
            <a:srgbClr val="3A3524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2651760"/>
            <a:ext cx="7498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EDITAL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645920" y="2651760"/>
            <a:ext cx="950976" cy="246888"/>
          </a:xfrm>
          <a:prstGeom prst="roundRect">
            <a:avLst>
              <a:gd name="adj" fmla="val 14815"/>
            </a:avLst>
          </a:prstGeom>
          <a:solidFill>
            <a:srgbClr val="163D2B"/>
          </a:solidFill>
          <a:ln/>
        </p:spPr>
      </p:sp>
      <p:sp>
        <p:nvSpPr>
          <p:cNvPr id="12" name="Text 10"/>
          <p:cNvSpPr/>
          <p:nvPr/>
        </p:nvSpPr>
        <p:spPr>
          <a:xfrm>
            <a:off x="1645920" y="2651760"/>
            <a:ext cx="9509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9DE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INOVAÇÃO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04672" y="2980944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 a base do IPTU · higieniza · integra ao GRP.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15968" y="1828800"/>
            <a:ext cx="3529584" cy="1783080"/>
          </a:xfrm>
          <a:prstGeom prst="roundRect">
            <a:avLst>
              <a:gd name="adj" fmla="val 5128"/>
            </a:avLst>
          </a:prstGeom>
          <a:solidFill>
            <a:srgbClr val="1B3A5C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0" y="2048256"/>
            <a:ext cx="475488" cy="475488"/>
          </a:xfrm>
          <a:prstGeom prst="ellipse">
            <a:avLst/>
          </a:prstGeom>
          <a:solidFill>
            <a:srgbClr val="E8F0FB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0" y="20482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175504" y="2066544"/>
            <a:ext cx="2478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Emissão e registro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0" y="2651760"/>
            <a:ext cx="749808" cy="246888"/>
          </a:xfrm>
          <a:prstGeom prst="roundRect">
            <a:avLst>
              <a:gd name="adj" fmla="val 14815"/>
            </a:avLst>
          </a:prstGeom>
          <a:solidFill>
            <a:srgbClr val="3A3524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0" y="2651760"/>
            <a:ext cx="7498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EDITAL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72000" y="2980944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Boleto CNAB + PIX + DDA · tempo real · 2ª via · batch.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083296" y="1828800"/>
            <a:ext cx="3529584" cy="1783080"/>
          </a:xfrm>
          <a:prstGeom prst="roundRect">
            <a:avLst>
              <a:gd name="adj" fmla="val 5128"/>
            </a:avLst>
          </a:prstGeom>
          <a:solidFill>
            <a:srgbClr val="1B3A5C"/>
          </a:solidFill>
          <a:ln/>
        </p:spPr>
      </p:sp>
      <p:sp>
        <p:nvSpPr>
          <p:cNvPr id="22" name="Shape 20"/>
          <p:cNvSpPr/>
          <p:nvPr/>
        </p:nvSpPr>
        <p:spPr>
          <a:xfrm>
            <a:off x="8339328" y="2048256"/>
            <a:ext cx="475488" cy="475488"/>
          </a:xfrm>
          <a:prstGeom prst="ellipse">
            <a:avLst/>
          </a:prstGeom>
          <a:solidFill>
            <a:srgbClr val="E8F0FB"/>
          </a:solidFill>
          <a:ln/>
        </p:spPr>
      </p:sp>
      <p:sp>
        <p:nvSpPr>
          <p:cNvPr id="23" name="Text 21"/>
          <p:cNvSpPr/>
          <p:nvPr/>
        </p:nvSpPr>
        <p:spPr>
          <a:xfrm>
            <a:off x="8339328" y="20482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942832" y="2066544"/>
            <a:ext cx="2478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Cobrança ativa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339328" y="2651760"/>
            <a:ext cx="749808" cy="246888"/>
          </a:xfrm>
          <a:prstGeom prst="roundRect">
            <a:avLst>
              <a:gd name="adj" fmla="val 14815"/>
            </a:avLst>
          </a:prstGeom>
          <a:solidFill>
            <a:srgbClr val="3A3524"/>
          </a:solidFill>
          <a:ln/>
        </p:spPr>
      </p:sp>
      <p:sp>
        <p:nvSpPr>
          <p:cNvPr id="26" name="Text 24"/>
          <p:cNvSpPr/>
          <p:nvPr/>
        </p:nvSpPr>
        <p:spPr>
          <a:xfrm>
            <a:off x="8339328" y="2651760"/>
            <a:ext cx="7498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EDITAL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9180576" y="2651760"/>
            <a:ext cx="950976" cy="246888"/>
          </a:xfrm>
          <a:prstGeom prst="roundRect">
            <a:avLst>
              <a:gd name="adj" fmla="val 14815"/>
            </a:avLst>
          </a:prstGeom>
          <a:solidFill>
            <a:srgbClr val="163D2B"/>
          </a:solidFill>
          <a:ln/>
        </p:spPr>
      </p:sp>
      <p:sp>
        <p:nvSpPr>
          <p:cNvPr id="28" name="Text 26"/>
          <p:cNvSpPr/>
          <p:nvPr/>
        </p:nvSpPr>
        <p:spPr>
          <a:xfrm>
            <a:off x="9180576" y="2651760"/>
            <a:ext cx="9509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9DE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INOVAÇÃO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339328" y="2980944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DDA · e-mail certificado · WhatsApp · régua · Opt-In.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3758184"/>
            <a:ext cx="3529584" cy="1783080"/>
          </a:xfrm>
          <a:prstGeom prst="roundRect">
            <a:avLst>
              <a:gd name="adj" fmla="val 5128"/>
            </a:avLst>
          </a:prstGeom>
          <a:solidFill>
            <a:srgbClr val="1B3A5C"/>
          </a:solidFill>
          <a:ln/>
        </p:spPr>
      </p:sp>
      <p:sp>
        <p:nvSpPr>
          <p:cNvPr id="31" name="Shape 29"/>
          <p:cNvSpPr/>
          <p:nvPr/>
        </p:nvSpPr>
        <p:spPr>
          <a:xfrm>
            <a:off x="804672" y="3977640"/>
            <a:ext cx="475488" cy="475488"/>
          </a:xfrm>
          <a:prstGeom prst="ellipse">
            <a:avLst/>
          </a:prstGeom>
          <a:solidFill>
            <a:srgbClr val="E8F0FB"/>
          </a:solidFill>
          <a:ln/>
        </p:spPr>
      </p:sp>
      <p:sp>
        <p:nvSpPr>
          <p:cNvPr id="32" name="Text 30"/>
          <p:cNvSpPr/>
          <p:nvPr/>
        </p:nvSpPr>
        <p:spPr>
          <a:xfrm>
            <a:off x="804672" y="39776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408176" y="3995928"/>
            <a:ext cx="2478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Conciliação e baixa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804672" y="4581144"/>
            <a:ext cx="749808" cy="246888"/>
          </a:xfrm>
          <a:prstGeom prst="roundRect">
            <a:avLst>
              <a:gd name="adj" fmla="val 14815"/>
            </a:avLst>
          </a:prstGeom>
          <a:solidFill>
            <a:srgbClr val="3A3524"/>
          </a:solidFill>
          <a:ln/>
        </p:spPr>
      </p:sp>
      <p:sp>
        <p:nvSpPr>
          <p:cNvPr id="35" name="Text 33"/>
          <p:cNvSpPr/>
          <p:nvPr/>
        </p:nvSpPr>
        <p:spPr>
          <a:xfrm>
            <a:off x="804672" y="4581144"/>
            <a:ext cx="7498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EDITAL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1645920" y="4581144"/>
            <a:ext cx="950976" cy="246888"/>
          </a:xfrm>
          <a:prstGeom prst="roundRect">
            <a:avLst>
              <a:gd name="adj" fmla="val 14815"/>
            </a:avLst>
          </a:prstGeom>
          <a:solidFill>
            <a:srgbClr val="163D2B"/>
          </a:solidFill>
          <a:ln/>
        </p:spPr>
      </p:sp>
      <p:sp>
        <p:nvSpPr>
          <p:cNvPr id="37" name="Text 35"/>
          <p:cNvSpPr/>
          <p:nvPr/>
        </p:nvSpPr>
        <p:spPr>
          <a:xfrm>
            <a:off x="1645920" y="4581144"/>
            <a:ext cx="9509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9DE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INOVAÇÃO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04672" y="4910328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Batimento automático · baixa por parcela · split.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315968" y="3758184"/>
            <a:ext cx="3529584" cy="1783080"/>
          </a:xfrm>
          <a:prstGeom prst="roundRect">
            <a:avLst>
              <a:gd name="adj" fmla="val 5128"/>
            </a:avLst>
          </a:prstGeom>
          <a:solidFill>
            <a:srgbClr val="1B3A5C"/>
          </a:solidFill>
          <a:ln/>
        </p:spPr>
      </p:sp>
      <p:sp>
        <p:nvSpPr>
          <p:cNvPr id="40" name="Shape 38"/>
          <p:cNvSpPr/>
          <p:nvPr/>
        </p:nvSpPr>
        <p:spPr>
          <a:xfrm>
            <a:off x="4572000" y="3977640"/>
            <a:ext cx="475488" cy="475488"/>
          </a:xfrm>
          <a:prstGeom prst="ellipse">
            <a:avLst/>
          </a:prstGeom>
          <a:solidFill>
            <a:srgbClr val="E8F0FB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0" y="39776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5175504" y="3995928"/>
            <a:ext cx="2478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Gestão e BI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4572000" y="4581144"/>
            <a:ext cx="749808" cy="246888"/>
          </a:xfrm>
          <a:prstGeom prst="roundRect">
            <a:avLst>
              <a:gd name="adj" fmla="val 14815"/>
            </a:avLst>
          </a:prstGeom>
          <a:solidFill>
            <a:srgbClr val="3A3524"/>
          </a:solidFill>
          <a:ln/>
        </p:spPr>
      </p:sp>
      <p:sp>
        <p:nvSpPr>
          <p:cNvPr id="44" name="Text 42"/>
          <p:cNvSpPr/>
          <p:nvPr/>
        </p:nvSpPr>
        <p:spPr>
          <a:xfrm>
            <a:off x="4572000" y="4581144"/>
            <a:ext cx="7498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EDITAL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413248" y="4581144"/>
            <a:ext cx="950976" cy="246888"/>
          </a:xfrm>
          <a:prstGeom prst="roundRect">
            <a:avLst>
              <a:gd name="adj" fmla="val 14815"/>
            </a:avLst>
          </a:prstGeom>
          <a:solidFill>
            <a:srgbClr val="163D2B"/>
          </a:solidFill>
          <a:ln/>
        </p:spPr>
      </p:sp>
      <p:sp>
        <p:nvSpPr>
          <p:cNvPr id="46" name="Text 44"/>
          <p:cNvSpPr/>
          <p:nvPr/>
        </p:nvSpPr>
        <p:spPr>
          <a:xfrm>
            <a:off x="5413248" y="4581144"/>
            <a:ext cx="9509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9DE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INOVAÇÃO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572000" y="4910328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executivo · inadimplência por bairro · por canal.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8083296" y="3758184"/>
            <a:ext cx="3529584" cy="1783080"/>
          </a:xfrm>
          <a:prstGeom prst="roundRect">
            <a:avLst>
              <a:gd name="adj" fmla="val 5128"/>
            </a:avLst>
          </a:prstGeom>
          <a:solidFill>
            <a:srgbClr val="1B3A5C"/>
          </a:solidFill>
          <a:ln/>
        </p:spPr>
      </p:sp>
      <p:sp>
        <p:nvSpPr>
          <p:cNvPr id="49" name="Shape 47"/>
          <p:cNvSpPr/>
          <p:nvPr/>
        </p:nvSpPr>
        <p:spPr>
          <a:xfrm>
            <a:off x="8339328" y="3977640"/>
            <a:ext cx="475488" cy="475488"/>
          </a:xfrm>
          <a:prstGeom prst="ellipse">
            <a:avLst/>
          </a:prstGeom>
          <a:solidFill>
            <a:srgbClr val="E8F0FB"/>
          </a:solidFill>
          <a:ln/>
        </p:spPr>
      </p:sp>
      <p:sp>
        <p:nvSpPr>
          <p:cNvPr id="50" name="Text 48"/>
          <p:cNvSpPr/>
          <p:nvPr/>
        </p:nvSpPr>
        <p:spPr>
          <a:xfrm>
            <a:off x="8339328" y="39776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8942832" y="3995928"/>
            <a:ext cx="2478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Governança e LGPD</a:t>
            </a:r>
            <a:endParaRPr lang="en-US" sz="1500" dirty="0"/>
          </a:p>
        </p:txBody>
      </p:sp>
      <p:sp>
        <p:nvSpPr>
          <p:cNvPr id="52" name="Shape 50"/>
          <p:cNvSpPr/>
          <p:nvPr/>
        </p:nvSpPr>
        <p:spPr>
          <a:xfrm>
            <a:off x="8339328" y="4581144"/>
            <a:ext cx="749808" cy="246888"/>
          </a:xfrm>
          <a:prstGeom prst="roundRect">
            <a:avLst>
              <a:gd name="adj" fmla="val 14815"/>
            </a:avLst>
          </a:prstGeom>
          <a:solidFill>
            <a:srgbClr val="3A3524"/>
          </a:solidFill>
          <a:ln/>
        </p:spPr>
      </p:sp>
      <p:sp>
        <p:nvSpPr>
          <p:cNvPr id="53" name="Text 51"/>
          <p:cNvSpPr/>
          <p:nvPr/>
        </p:nvSpPr>
        <p:spPr>
          <a:xfrm>
            <a:off x="8339328" y="4581144"/>
            <a:ext cx="7498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EDITAL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9180576" y="4581144"/>
            <a:ext cx="950976" cy="246888"/>
          </a:xfrm>
          <a:prstGeom prst="roundRect">
            <a:avLst>
              <a:gd name="adj" fmla="val 14815"/>
            </a:avLst>
          </a:prstGeom>
          <a:solidFill>
            <a:srgbClr val="163D2B"/>
          </a:solidFill>
          <a:ln/>
        </p:spPr>
      </p:sp>
      <p:sp>
        <p:nvSpPr>
          <p:cNvPr id="55" name="Text 53"/>
          <p:cNvSpPr/>
          <p:nvPr/>
        </p:nvSpPr>
        <p:spPr>
          <a:xfrm>
            <a:off x="9180576" y="4581144"/>
            <a:ext cx="9509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9DE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INOVAÇÃO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8339328" y="4910328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 · consentimento · ROPA/RIPD · trilha · DPO.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548640" y="5440680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1B3A5C"/>
          </a:solidFill>
          <a:ln/>
        </p:spPr>
      </p:sp>
      <p:sp>
        <p:nvSpPr>
          <p:cNvPr id="58" name="Text 56"/>
          <p:cNvSpPr/>
          <p:nvPr/>
        </p:nvSpPr>
        <p:spPr>
          <a:xfrm>
            <a:off x="868680" y="544068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EDITAL</a:t>
            </a:r>
            <a:pPr indent="0" marL="0">
              <a:buNone/>
            </a:pPr>
            <a:r>
              <a:rPr lang="en-US" sz="120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já exigido nos editais examinados (Boituva · Mococa · CIM).     </a:t>
            </a:r>
            <a:pPr indent="0" marL="0">
              <a:buNone/>
            </a:pPr>
            <a:r>
              <a:rPr lang="en-US" sz="1200" b="1" dirty="0">
                <a:solidFill>
                  <a:srgbClr val="9DE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INOVAÇÃO</a:t>
            </a:r>
            <a:pPr indent="0" marL="0">
              <a:buNone/>
            </a:pPr>
            <a:r>
              <a:rPr lang="en-US" sz="120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nosso diferencial, além do edital.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Emissão e registro é 100% edital — os demais têm base de edital + camada de inovação.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 · EXIGIDAS NO EDITAL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piso obrigatório — IPTU, TFF e ISS autônomo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40680" cy="2084832"/>
          </a:xfrm>
          <a:prstGeom prst="roundRect">
            <a:avLst>
              <a:gd name="adj" fmla="val 3947"/>
            </a:avLst>
          </a:prstGeom>
          <a:solidFill>
            <a:srgbClr val="F4F7FB"/>
          </a:solidFill>
          <a:ln w="12700">
            <a:solidFill>
              <a:srgbClr val="E1E9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09928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Integração ao sistema tributário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06240" y="1728216"/>
            <a:ext cx="1554480" cy="292608"/>
          </a:xfrm>
          <a:prstGeom prst="roundRect">
            <a:avLst>
              <a:gd name="adj" fmla="val 15625"/>
            </a:avLst>
          </a:prstGeom>
          <a:solidFill>
            <a:srgbClr val="EEF1F5"/>
          </a:solidFill>
          <a:ln/>
        </p:spPr>
      </p:sp>
      <p:sp>
        <p:nvSpPr>
          <p:cNvPr id="7" name="Text 5"/>
          <p:cNvSpPr/>
          <p:nvPr/>
        </p:nvSpPr>
        <p:spPr>
          <a:xfrm>
            <a:off x="4206240" y="172821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EXIGIDO NO EDITAL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2167128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 a base do IPTU e devolve a baixa — integra ao GRP existente sem trocá-lo.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136392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Exigido em: </a:t>
            </a:r>
            <a:pPr indent="0" marL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Boituva (importação da base) · Mococa (RNF4)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27064" y="1508760"/>
            <a:ext cx="5440680" cy="2084832"/>
          </a:xfrm>
          <a:prstGeom prst="roundRect">
            <a:avLst>
              <a:gd name="adj" fmla="val 3947"/>
            </a:avLst>
          </a:prstGeom>
          <a:solidFill>
            <a:srgbClr val="F4F7FB"/>
          </a:solidFill>
          <a:ln w="12700">
            <a:solidFill>
              <a:srgbClr val="E1E9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01384" y="1709928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Emissão 100% registrada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884664" y="1728216"/>
            <a:ext cx="1554480" cy="292608"/>
          </a:xfrm>
          <a:prstGeom prst="roundRect">
            <a:avLst>
              <a:gd name="adj" fmla="val 15625"/>
            </a:avLst>
          </a:prstGeom>
          <a:solidFill>
            <a:srgbClr val="EEF1F5"/>
          </a:solidFill>
          <a:ln/>
        </p:spPr>
      </p:sp>
      <p:sp>
        <p:nvSpPr>
          <p:cNvPr id="13" name="Text 11"/>
          <p:cNvSpPr/>
          <p:nvPr/>
        </p:nvSpPr>
        <p:spPr>
          <a:xfrm>
            <a:off x="9884664" y="172821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EXIGIDO NO EDITAL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501384" y="2167128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Boleto CNAB 240/400 + PIX + DDA no carnê, em tempo real; 2ª via, parcelamento e registro por batch.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01384" y="3136392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Exigido em: </a:t>
            </a:r>
            <a:pPr indent="0" marL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 (CNAB 240/400+DDA+PIX) · Boituva · Mococa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758184"/>
            <a:ext cx="5440680" cy="2084832"/>
          </a:xfrm>
          <a:prstGeom prst="roundRect">
            <a:avLst>
              <a:gd name="adj" fmla="val 3947"/>
            </a:avLst>
          </a:prstGeom>
          <a:solidFill>
            <a:srgbClr val="F4F7FB"/>
          </a:solidFill>
          <a:ln w="12700">
            <a:solidFill>
              <a:srgbClr val="E1E9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959352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Conciliação e baixa automática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206240" y="3977640"/>
            <a:ext cx="1554480" cy="292608"/>
          </a:xfrm>
          <a:prstGeom prst="roundRect">
            <a:avLst>
              <a:gd name="adj" fmla="val 15625"/>
            </a:avLst>
          </a:prstGeom>
          <a:solidFill>
            <a:srgbClr val="EEF1F5"/>
          </a:solidFill>
          <a:ln/>
        </p:spPr>
      </p:sp>
      <p:sp>
        <p:nvSpPr>
          <p:cNvPr id="19" name="Text 17"/>
          <p:cNvSpPr/>
          <p:nvPr/>
        </p:nvSpPr>
        <p:spPr>
          <a:xfrm>
            <a:off x="4206240" y="39776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EXIGIDO NO EDITAL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22960" y="4416552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Bate cada pagamento com o débito e baixa a parcela no sistema da Secretaria.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5385816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Exigido em: </a:t>
            </a:r>
            <a:pPr indent="0" marL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Boituva · Mococa · CIM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27064" y="3758184"/>
            <a:ext cx="5440680" cy="2084832"/>
          </a:xfrm>
          <a:prstGeom prst="roundRect">
            <a:avLst>
              <a:gd name="adj" fmla="val 3947"/>
            </a:avLst>
          </a:prstGeom>
          <a:solidFill>
            <a:srgbClr val="F4F7FB"/>
          </a:solidFill>
          <a:ln w="12700">
            <a:solidFill>
              <a:srgbClr val="E1E9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01384" y="3959352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Cobrança, Opt-In e operação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884664" y="3977640"/>
            <a:ext cx="1554480" cy="292608"/>
          </a:xfrm>
          <a:prstGeom prst="roundRect">
            <a:avLst>
              <a:gd name="adj" fmla="val 15625"/>
            </a:avLst>
          </a:prstGeom>
          <a:solidFill>
            <a:srgbClr val="EEF1F5"/>
          </a:solidFill>
          <a:ln/>
        </p:spPr>
      </p:sp>
      <p:sp>
        <p:nvSpPr>
          <p:cNvPr id="25" name="Text 23"/>
          <p:cNvSpPr/>
          <p:nvPr/>
        </p:nvSpPr>
        <p:spPr>
          <a:xfrm>
            <a:off x="9884664" y="39776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EXIGIDO NO EDITAL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501384" y="4416552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Opt-In do carnê digital, inadimplência, SLA, arquivo diário e 2FA/LGPD.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01384" y="5385816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Exigido em: </a:t>
            </a:r>
            <a:pPr indent="0" marL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Boituva (Opt-In) · Mococa (2FA, SLA) · CIM (SLA 99,5%)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 examinadas: ETP Boituva · Edital Mococa · Edital CIM Jequitinhonha (pasta PayProxy)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 · INOVAÇÃO (NOSSO DIFERENCIAL)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criamos para ganhar de quem entrega só o mínimo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40680" cy="2084832"/>
          </a:xfrm>
          <a:prstGeom prst="roundRect">
            <a:avLst>
              <a:gd name="adj" fmla="val 3947"/>
            </a:avLst>
          </a:prstGeom>
          <a:solidFill>
            <a:srgbClr val="F4F7FB"/>
          </a:solidFill>
          <a:ln w="12700">
            <a:solidFill>
              <a:srgbClr val="E1E9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09928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Geointeligência (mapa por bairro)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794760" y="1728216"/>
            <a:ext cx="1965960" cy="292608"/>
          </a:xfrm>
          <a:prstGeom prst="roundRect">
            <a:avLst>
              <a:gd name="adj" fmla="val 15625"/>
            </a:avLst>
          </a:prstGeom>
          <a:solidFill>
            <a:srgbClr val="E6F2EA"/>
          </a:solidFill>
          <a:ln/>
        </p:spPr>
      </p:sp>
      <p:sp>
        <p:nvSpPr>
          <p:cNvPr id="7" name="Text 5"/>
          <p:cNvSpPr/>
          <p:nvPr/>
        </p:nvSpPr>
        <p:spPr>
          <a:xfrm>
            <a:off x="3794760" y="1728216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INOVAÇÃO · DIFERENCIAL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2167128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calor da inadimplência do IPTU por bairro — mostra onde a cobrança precisa atacar primeiro.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27064" y="1508760"/>
            <a:ext cx="5440680" cy="2084832"/>
          </a:xfrm>
          <a:prstGeom prst="roundRect">
            <a:avLst>
              <a:gd name="adj" fmla="val 3947"/>
            </a:avLst>
          </a:prstGeom>
          <a:solidFill>
            <a:srgbClr val="F4F7FB"/>
          </a:solidFill>
          <a:ln w="12700">
            <a:solidFill>
              <a:srgbClr val="E1E9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01384" y="1709928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 de propensão + régua governada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473184" y="1728216"/>
            <a:ext cx="1965960" cy="292608"/>
          </a:xfrm>
          <a:prstGeom prst="roundRect">
            <a:avLst>
              <a:gd name="adj" fmla="val 15625"/>
            </a:avLst>
          </a:prstGeom>
          <a:solidFill>
            <a:srgbClr val="E6F2EA"/>
          </a:solidFill>
          <a:ln/>
        </p:spPr>
      </p:sp>
      <p:sp>
        <p:nvSpPr>
          <p:cNvPr id="12" name="Text 10"/>
          <p:cNvSpPr/>
          <p:nvPr/>
        </p:nvSpPr>
        <p:spPr>
          <a:xfrm>
            <a:off x="9473184" y="1728216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INOVAÇÃO · DIFERENCIAL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501384" y="2167128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 a cobrança por quem tem mais chance de pagar; DDA + e-mail certificado + WhatsApp com opt-in auditável.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758184"/>
            <a:ext cx="5440680" cy="2084832"/>
          </a:xfrm>
          <a:prstGeom prst="roundRect">
            <a:avLst>
              <a:gd name="adj" fmla="val 3947"/>
            </a:avLst>
          </a:prstGeom>
          <a:solidFill>
            <a:srgbClr val="F4F7FB"/>
          </a:solidFill>
          <a:ln w="12700">
            <a:solidFill>
              <a:srgbClr val="E1E9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959352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LGPD embarcada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794760" y="3977640"/>
            <a:ext cx="1965960" cy="292608"/>
          </a:xfrm>
          <a:prstGeom prst="roundRect">
            <a:avLst>
              <a:gd name="adj" fmla="val 15625"/>
            </a:avLst>
          </a:prstGeom>
          <a:solidFill>
            <a:srgbClr val="E6F2EA"/>
          </a:solidFill>
          <a:ln/>
        </p:spPr>
      </p:sp>
      <p:sp>
        <p:nvSpPr>
          <p:cNvPr id="17" name="Text 15"/>
          <p:cNvSpPr/>
          <p:nvPr/>
        </p:nvSpPr>
        <p:spPr>
          <a:xfrm>
            <a:off x="3794760" y="397764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INOVAÇÃO · DIFERENCIAL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" y="4416552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Controlador/operador, consentimento, ROPA, RIPD, trilha de auditoria e DPO — conformidade demonstrável, não folheto.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27064" y="3758184"/>
            <a:ext cx="5440680" cy="2084832"/>
          </a:xfrm>
          <a:prstGeom prst="roundRect">
            <a:avLst>
              <a:gd name="adj" fmla="val 3947"/>
            </a:avLst>
          </a:prstGeom>
          <a:solidFill>
            <a:srgbClr val="F4F7FB"/>
          </a:solidFill>
          <a:ln w="12700">
            <a:solidFill>
              <a:srgbClr val="E1E9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01384" y="3959352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Arquitetura jurídica + performance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473184" y="3977640"/>
            <a:ext cx="1965960" cy="292608"/>
          </a:xfrm>
          <a:prstGeom prst="roundRect">
            <a:avLst>
              <a:gd name="adj" fmla="val 15625"/>
            </a:avLst>
          </a:prstGeom>
          <a:solidFill>
            <a:srgbClr val="E6F2EA"/>
          </a:solidFill>
          <a:ln/>
        </p:spPr>
      </p:sp>
      <p:sp>
        <p:nvSpPr>
          <p:cNvPr id="22" name="Text 20"/>
          <p:cNvSpPr/>
          <p:nvPr/>
        </p:nvSpPr>
        <p:spPr>
          <a:xfrm>
            <a:off x="9473184" y="397764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INOVAÇÃO · DIFERENCIAL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501384" y="4416552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 sem delegar competência (Lei 14.133); remuneração por guia liquidada, sem CAPEX para o município.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Inovação PayProxy · além do edital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PODEMOS IR ALÉM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Inovações que podemos incluir no escopo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8001000" y="603504"/>
            <a:ext cx="3611880" cy="402336"/>
          </a:xfrm>
          <a:prstGeom prst="roundRect">
            <a:avLst>
              <a:gd name="adj" fmla="val 13636"/>
            </a:avLst>
          </a:prstGeom>
          <a:solidFill>
            <a:srgbClr val="FBF0DA"/>
          </a:solidFill>
          <a:ln w="12700">
            <a:solidFill>
              <a:srgbClr val="E6D3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01000" y="603504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AVALIAR · NÃO É ESCOPO FECHADO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669280" cy="4480560"/>
          </a:xfrm>
          <a:prstGeom prst="roundRect">
            <a:avLst>
              <a:gd name="adj" fmla="val 2449"/>
            </a:avLst>
          </a:prstGeom>
          <a:solidFill>
            <a:srgbClr val="0E2A47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1828800"/>
            <a:ext cx="2468880" cy="365760"/>
          </a:xfrm>
          <a:prstGeom prst="roundRect">
            <a:avLst>
              <a:gd name="adj" fmla="val 15000"/>
            </a:avLst>
          </a:prstGeom>
          <a:solidFill>
            <a:srgbClr val="163D2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8288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9DE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EXEMPLO-BANDEIRA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22960" y="233172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Força na LGPD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22960" y="297180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Transformar a conformidade em arma comercial — o que nenhum concorrente vende: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68680" y="3657600"/>
            <a:ext cx="128016" cy="12801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356616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de conformidade pronto para ANPD e TCE a cada ciclo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68680" y="4206240"/>
            <a:ext cx="128016" cy="12801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411480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do DPO e da Controladoria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68680" y="4754880"/>
            <a:ext cx="128016" cy="12801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466344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consentimento (opt-in) como serviço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68680" y="5303520"/>
            <a:ext cx="128016" cy="12801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" y="521208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Selo de privacidade do município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92240" y="1554480"/>
            <a:ext cx="5120640" cy="1005840"/>
          </a:xfrm>
          <a:prstGeom prst="roundRect">
            <a:avLst>
              <a:gd name="adj" fmla="val 8182"/>
            </a:avLst>
          </a:prstGeom>
          <a:solidFill>
            <a:srgbClr val="F4F7FB"/>
          </a:solidFill>
          <a:ln w="12700">
            <a:solidFill>
              <a:srgbClr val="E1E9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20840" y="168249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 preditiva de recuperação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0561320" y="1700784"/>
            <a:ext cx="822960" cy="237744"/>
          </a:xfrm>
          <a:prstGeom prst="roundRect">
            <a:avLst>
              <a:gd name="adj" fmla="val 15385"/>
            </a:avLst>
          </a:prstGeom>
          <a:solidFill>
            <a:srgbClr val="FBF0DA"/>
          </a:solidFill>
          <a:ln/>
        </p:spPr>
      </p:sp>
      <p:sp>
        <p:nvSpPr>
          <p:cNvPr id="22" name="Text 20"/>
          <p:cNvSpPr/>
          <p:nvPr/>
        </p:nvSpPr>
        <p:spPr>
          <a:xfrm>
            <a:off x="10561320" y="170078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AVALIAR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720840" y="20116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de recuperabilidade: prever quem vai pagar e priorizar a cobrança.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92240" y="2697480"/>
            <a:ext cx="5120640" cy="1005840"/>
          </a:xfrm>
          <a:prstGeom prst="roundRect">
            <a:avLst>
              <a:gd name="adj" fmla="val 8182"/>
            </a:avLst>
          </a:prstGeom>
          <a:solidFill>
            <a:srgbClr val="F4F7FB"/>
          </a:solidFill>
          <a:ln w="12700">
            <a:solidFill>
              <a:srgbClr val="E1E9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20840" y="282549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Finance / conta do contribuinte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0561320" y="2843784"/>
            <a:ext cx="822960" cy="237744"/>
          </a:xfrm>
          <a:prstGeom prst="roundRect">
            <a:avLst>
              <a:gd name="adj" fmla="val 15385"/>
            </a:avLst>
          </a:prstGeom>
          <a:solidFill>
            <a:srgbClr val="FBF0DA"/>
          </a:solidFill>
          <a:ln/>
        </p:spPr>
      </p:sp>
      <p:sp>
        <p:nvSpPr>
          <p:cNvPr id="27" name="Text 25"/>
          <p:cNvSpPr/>
          <p:nvPr/>
        </p:nvSpPr>
        <p:spPr>
          <a:xfrm>
            <a:off x="10561320" y="284378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AVALIAR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720840" y="31546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 e conciliação ainda mais rápidos, dentro da jornada bancária.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92240" y="3840480"/>
            <a:ext cx="5120640" cy="1005840"/>
          </a:xfrm>
          <a:prstGeom prst="roundRect">
            <a:avLst>
              <a:gd name="adj" fmla="val 8182"/>
            </a:avLst>
          </a:prstGeom>
          <a:solidFill>
            <a:srgbClr val="F4F7FB"/>
          </a:solidFill>
          <a:ln w="12700">
            <a:solidFill>
              <a:srgbClr val="E1E9F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20840" y="396849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Integração gov.br + assinatura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10561320" y="3986784"/>
            <a:ext cx="822960" cy="237744"/>
          </a:xfrm>
          <a:prstGeom prst="roundRect">
            <a:avLst>
              <a:gd name="adj" fmla="val 15385"/>
            </a:avLst>
          </a:prstGeom>
          <a:solidFill>
            <a:srgbClr val="FBF0DA"/>
          </a:solidFill>
          <a:ln/>
        </p:spPr>
      </p:sp>
      <p:sp>
        <p:nvSpPr>
          <p:cNvPr id="32" name="Text 30"/>
          <p:cNvSpPr/>
          <p:nvPr/>
        </p:nvSpPr>
        <p:spPr>
          <a:xfrm>
            <a:off x="10561320" y="398678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AVALIAR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720840" y="42976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Adesão e parcelamento 100% digitais, com validade jurídica.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492240" y="4983480"/>
            <a:ext cx="5120640" cy="1005840"/>
          </a:xfrm>
          <a:prstGeom prst="roundRect">
            <a:avLst>
              <a:gd name="adj" fmla="val 8182"/>
            </a:avLst>
          </a:prstGeom>
          <a:solidFill>
            <a:srgbClr val="F4F7FB"/>
          </a:solidFill>
          <a:ln w="12700">
            <a:solidFill>
              <a:srgbClr val="E1E9F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20840" y="511149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Geointeligência preditiva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10561320" y="5129784"/>
            <a:ext cx="822960" cy="237744"/>
          </a:xfrm>
          <a:prstGeom prst="roundRect">
            <a:avLst>
              <a:gd name="adj" fmla="val 15385"/>
            </a:avLst>
          </a:prstGeom>
          <a:solidFill>
            <a:srgbClr val="FBF0DA"/>
          </a:solidFill>
          <a:ln/>
        </p:spPr>
      </p:sp>
      <p:sp>
        <p:nvSpPr>
          <p:cNvPr id="37" name="Text 35"/>
          <p:cNvSpPr/>
          <p:nvPr/>
        </p:nvSpPr>
        <p:spPr>
          <a:xfrm>
            <a:off x="10561320" y="512978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AVALIAR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720840" y="54406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Antecipar a inadimplência por bairro antes de ela acontecer.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Candidatas a priorizar — NÃO é escopo fechado. A LGPD é a de maior diferencial imediato.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 EXIGIDA · ACESSO ONLINE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Acesso do contribuinte online (portal + app)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40680" cy="2084832"/>
          </a:xfrm>
          <a:prstGeom prst="roundRect">
            <a:avLst>
              <a:gd name="adj" fmla="val 3947"/>
            </a:avLst>
          </a:prstGeom>
          <a:solidFill>
            <a:srgbClr val="F4F7FB"/>
          </a:solidFill>
          <a:ln w="12700">
            <a:solidFill>
              <a:srgbClr val="E1E9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09928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Portal e App do contribuinte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06240" y="1728216"/>
            <a:ext cx="1554480" cy="292608"/>
          </a:xfrm>
          <a:prstGeom prst="roundRect">
            <a:avLst>
              <a:gd name="adj" fmla="val 15625"/>
            </a:avLst>
          </a:prstGeom>
          <a:solidFill>
            <a:srgbClr val="EEF1F5"/>
          </a:solidFill>
          <a:ln/>
        </p:spPr>
      </p:sp>
      <p:sp>
        <p:nvSpPr>
          <p:cNvPr id="7" name="Text 5"/>
          <p:cNvSpPr/>
          <p:nvPr/>
        </p:nvSpPr>
        <p:spPr>
          <a:xfrm>
            <a:off x="4206240" y="172821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EXIGIDO NO EDITAL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2167128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web próprio e app: consulta de lançamentos por CPF/CNPJ e inscrição municipal.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136392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Exigido em: </a:t>
            </a:r>
            <a:pPr indent="0" marL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Alagoinhas §4 · Boituva · Mococa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27064" y="1508760"/>
            <a:ext cx="5440680" cy="2084832"/>
          </a:xfrm>
          <a:prstGeom prst="roundRect">
            <a:avLst>
              <a:gd name="adj" fmla="val 3947"/>
            </a:avLst>
          </a:prstGeom>
          <a:solidFill>
            <a:srgbClr val="F4F7FB"/>
          </a:solidFill>
          <a:ln w="12700">
            <a:solidFill>
              <a:srgbClr val="E1E9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01384" y="1709928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2ª via e situação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884664" y="1728216"/>
            <a:ext cx="1554480" cy="292608"/>
          </a:xfrm>
          <a:prstGeom prst="roundRect">
            <a:avLst>
              <a:gd name="adj" fmla="val 15625"/>
            </a:avLst>
          </a:prstGeom>
          <a:solidFill>
            <a:srgbClr val="EEF1F5"/>
          </a:solidFill>
          <a:ln/>
        </p:spPr>
      </p:sp>
      <p:sp>
        <p:nvSpPr>
          <p:cNvPr id="13" name="Text 11"/>
          <p:cNvSpPr/>
          <p:nvPr/>
        </p:nvSpPr>
        <p:spPr>
          <a:xfrm>
            <a:off x="9884664" y="172821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EXIGIDO NO EDITAL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501384" y="2167128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Emissão de 2ª via e situação da guia (paga/aberta) em autoatendimento.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01384" y="3136392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Exigido em: </a:t>
            </a:r>
            <a:pPr indent="0" marL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Alagoinhas §4 · PoC CIM Mód.1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758184"/>
            <a:ext cx="5440680" cy="2084832"/>
          </a:xfrm>
          <a:prstGeom prst="roundRect">
            <a:avLst>
              <a:gd name="adj" fmla="val 3947"/>
            </a:avLst>
          </a:prstGeom>
          <a:solidFill>
            <a:srgbClr val="F4F7FB"/>
          </a:solidFill>
          <a:ln w="12700">
            <a:solidFill>
              <a:srgbClr val="E1E9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959352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Retificação cadastral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206240" y="3977640"/>
            <a:ext cx="1554480" cy="292608"/>
          </a:xfrm>
          <a:prstGeom prst="roundRect">
            <a:avLst>
              <a:gd name="adj" fmla="val 15625"/>
            </a:avLst>
          </a:prstGeom>
          <a:solidFill>
            <a:srgbClr val="EEF1F5"/>
          </a:solidFill>
          <a:ln/>
        </p:spPr>
      </p:sp>
      <p:sp>
        <p:nvSpPr>
          <p:cNvPr id="19" name="Text 17"/>
          <p:cNvSpPr/>
          <p:nvPr/>
        </p:nvSpPr>
        <p:spPr>
          <a:xfrm>
            <a:off x="4206240" y="39776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EXIGIDO NO EDITAL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22960" y="4416552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contribuinte solicita correção de dados do imóvel; a SEFAZ homologa.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5385816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Exigido em: </a:t>
            </a:r>
            <a:pPr indent="0" marL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Alagoinhas §4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27064" y="3758184"/>
            <a:ext cx="5440680" cy="2084832"/>
          </a:xfrm>
          <a:prstGeom prst="roundRect">
            <a:avLst>
              <a:gd name="adj" fmla="val 3947"/>
            </a:avLst>
          </a:prstGeom>
          <a:solidFill>
            <a:srgbClr val="F4F7FB"/>
          </a:solidFill>
          <a:ln w="12700">
            <a:solidFill>
              <a:srgbClr val="E1E9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01384" y="3959352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Jornada do cidadão (CzRM)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884664" y="3977640"/>
            <a:ext cx="1554480" cy="292608"/>
          </a:xfrm>
          <a:prstGeom prst="roundRect">
            <a:avLst>
              <a:gd name="adj" fmla="val 15625"/>
            </a:avLst>
          </a:prstGeom>
          <a:solidFill>
            <a:srgbClr val="EEF1F5"/>
          </a:solidFill>
          <a:ln/>
        </p:spPr>
      </p:sp>
      <p:sp>
        <p:nvSpPr>
          <p:cNvPr id="25" name="Text 23"/>
          <p:cNvSpPr/>
          <p:nvPr/>
        </p:nvSpPr>
        <p:spPr>
          <a:xfrm>
            <a:off x="9884664" y="39776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EXIGIDO NO EDITAL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501384" y="4416552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Relacionamento e atendimento digital ao contribuinte.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01384" y="5385816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Exigido em: </a:t>
            </a:r>
            <a:pPr indent="0" marL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Boituva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EXIGIDA (a vitrine do contribuinte) — cobrimos, mas o diferencial segue sendo a sala de comando.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ENTREGA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Nuvem (SaaS) e a opção híbrida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40680" cy="2743200"/>
          </a:xfrm>
          <a:prstGeom prst="roundRect">
            <a:avLst>
              <a:gd name="adj" fmla="val 3333"/>
            </a:avLst>
          </a:prstGeom>
          <a:solidFill>
            <a:srgbClr val="F4F7FB"/>
          </a:solidFill>
          <a:ln w="12700">
            <a:solidFill>
              <a:srgbClr val="E1E9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4708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E7A46"/>
          </a:solidFill>
          <a:ln/>
        </p:spPr>
      </p:sp>
      <p:sp>
        <p:nvSpPr>
          <p:cNvPr id="6" name="Text 4"/>
          <p:cNvSpPr/>
          <p:nvPr/>
        </p:nvSpPr>
        <p:spPr>
          <a:xfrm>
            <a:off x="1417320" y="182880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SaaS (nuvem)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padrão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4892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 na nuvem da PayProxy; o município não instala nada. Menos infra, atualização contínua.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88620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</a:t>
            </a:r>
            <a:pPr indent="0" marL="0">
              <a:buNone/>
            </a:pPr>
            <a:r>
              <a:rPr lang="en-US" sz="9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editais · institucional PayProxy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227064" y="1554480"/>
            <a:ext cx="5440680" cy="2743200"/>
          </a:xfrm>
          <a:prstGeom prst="roundRect">
            <a:avLst>
              <a:gd name="adj" fmla="val 3333"/>
            </a:avLst>
          </a:prstGeom>
          <a:solidFill>
            <a:srgbClr val="F4F7FB"/>
          </a:solidFill>
          <a:ln w="12700">
            <a:solidFill>
              <a:srgbClr val="E1E9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01384" y="184708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B8860B"/>
          </a:solidFill>
          <a:ln/>
        </p:spPr>
      </p:sp>
      <p:sp>
        <p:nvSpPr>
          <p:cNvPr id="12" name="Text 10"/>
          <p:cNvSpPr/>
          <p:nvPr/>
        </p:nvSpPr>
        <p:spPr>
          <a:xfrm>
            <a:off x="7095744" y="182880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Híbrido (nuvem + no cliente)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01384" y="246888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opção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501384" y="2834640"/>
            <a:ext cx="4892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aplicação e os dados podem ficar no ambiente do município — para quem exige controle/soberania do dado.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01384" y="388620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</a:t>
            </a:r>
            <a:pPr indent="0" marL="0">
              <a:buNone/>
            </a:pPr>
            <a:r>
              <a:rPr lang="en-US" sz="9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Jaguariúna (On-Premise ou SaaS) · Boituva (SaaS ou licença)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457200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0E2A47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754880"/>
            <a:ext cx="10424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DE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verdade técnica: 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no híbrido, a emissão e a liquidação seguem nos trilhos de nuvem (PIX/Núclea/BaaS) — é híbrido real, não On-Premise puro. E poder instalar no cliente reforça o recado: somos software, não um trilho. Um BaaS não se instala on-premise.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de arquitetura — a matriz-blueprint expõe o custo; a escolha é do gestor.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COBRANÇA ATIVA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três canais — o que é exigido e o que é diferencial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29584" cy="4206240"/>
          </a:xfrm>
          <a:prstGeom prst="roundRect">
            <a:avLst>
              <a:gd name="adj" fmla="val 2591"/>
            </a:avLst>
          </a:prstGeom>
          <a:solidFill>
            <a:srgbClr val="F4F7FB"/>
          </a:solidFill>
          <a:ln w="12700">
            <a:solidFill>
              <a:srgbClr val="E1E9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7452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36B37E"/>
          </a:solidFill>
          <a:ln/>
        </p:spPr>
      </p:sp>
      <p:sp>
        <p:nvSpPr>
          <p:cNvPr id="6" name="Shape 4"/>
          <p:cNvSpPr/>
          <p:nvPr/>
        </p:nvSpPr>
        <p:spPr>
          <a:xfrm>
            <a:off x="2660904" y="1965960"/>
            <a:ext cx="1143000" cy="292608"/>
          </a:xfrm>
          <a:prstGeom prst="roundRect">
            <a:avLst>
              <a:gd name="adj" fmla="val 15625"/>
            </a:avLst>
          </a:prstGeom>
          <a:solidFill>
            <a:srgbClr val="F3EAD3"/>
          </a:solidFill>
          <a:ln/>
        </p:spPr>
      </p:sp>
      <p:sp>
        <p:nvSpPr>
          <p:cNvPr id="7" name="Text 5"/>
          <p:cNvSpPr/>
          <p:nvPr/>
        </p:nvSpPr>
        <p:spPr>
          <a:xfrm>
            <a:off x="2660904" y="196596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8A6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EXIGIDO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2606040"/>
            <a:ext cx="29809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Canal 1 · DDA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3035808"/>
            <a:ext cx="29809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6B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Débito Direto Autorizado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3474720"/>
            <a:ext cx="298094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Cobrança registrada na CIP/Núclea; alerta automático no app do banco do contribuinte.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4983480"/>
            <a:ext cx="298094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</a:t>
            </a:r>
            <a:pPr indent="0" marL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Boituva (débito automático) · CIM (notificação DDA)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15968" y="1554480"/>
            <a:ext cx="3529584" cy="4206240"/>
          </a:xfrm>
          <a:prstGeom prst="roundRect">
            <a:avLst>
              <a:gd name="adj" fmla="val 2591"/>
            </a:avLst>
          </a:prstGeom>
          <a:solidFill>
            <a:srgbClr val="F4F7FB"/>
          </a:solidFill>
          <a:ln w="12700">
            <a:solidFill>
              <a:srgbClr val="E1E9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90288" y="187452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7A5AF0"/>
          </a:solidFill>
          <a:ln/>
        </p:spPr>
      </p:sp>
      <p:sp>
        <p:nvSpPr>
          <p:cNvPr id="14" name="Shape 12"/>
          <p:cNvSpPr/>
          <p:nvPr/>
        </p:nvSpPr>
        <p:spPr>
          <a:xfrm>
            <a:off x="6428232" y="1965960"/>
            <a:ext cx="1143000" cy="292608"/>
          </a:xfrm>
          <a:prstGeom prst="roundRect">
            <a:avLst>
              <a:gd name="adj" fmla="val 15625"/>
            </a:avLst>
          </a:prstGeom>
          <a:solidFill>
            <a:srgbClr val="E6F2EA"/>
          </a:solidFill>
          <a:ln/>
        </p:spPr>
      </p:sp>
      <p:sp>
        <p:nvSpPr>
          <p:cNvPr id="15" name="Text 13"/>
          <p:cNvSpPr/>
          <p:nvPr/>
        </p:nvSpPr>
        <p:spPr>
          <a:xfrm>
            <a:off x="6428232" y="196596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90288" y="2606040"/>
            <a:ext cx="29809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Canal 2 · E-mail registrado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590288" y="3035808"/>
            <a:ext cx="29809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A5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Certificado ICP-Brasil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90288" y="3474720"/>
            <a:ext cx="298094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com validade jurídica e prova de entrega. Não cai no spam.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90288" y="4983480"/>
            <a:ext cx="298094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</a:t>
            </a:r>
            <a:pPr indent="0" marL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exigido em nenhum edital · institucional PayProxy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083296" y="1554480"/>
            <a:ext cx="3529584" cy="4206240"/>
          </a:xfrm>
          <a:prstGeom prst="roundRect">
            <a:avLst>
              <a:gd name="adj" fmla="val 2591"/>
            </a:avLst>
          </a:prstGeom>
          <a:solidFill>
            <a:srgbClr val="F4F7FB"/>
          </a:solidFill>
          <a:ln w="12700">
            <a:solidFill>
              <a:srgbClr val="E1E9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57616" y="187452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1E9E62"/>
          </a:solidFill>
          <a:ln/>
        </p:spPr>
      </p:sp>
      <p:sp>
        <p:nvSpPr>
          <p:cNvPr id="22" name="Shape 20"/>
          <p:cNvSpPr/>
          <p:nvPr/>
        </p:nvSpPr>
        <p:spPr>
          <a:xfrm>
            <a:off x="10195560" y="1965960"/>
            <a:ext cx="1143000" cy="292608"/>
          </a:xfrm>
          <a:prstGeom prst="roundRect">
            <a:avLst>
              <a:gd name="adj" fmla="val 15625"/>
            </a:avLst>
          </a:prstGeom>
          <a:solidFill>
            <a:srgbClr val="FDEEDD"/>
          </a:solidFill>
          <a:ln/>
        </p:spPr>
      </p:sp>
      <p:sp>
        <p:nvSpPr>
          <p:cNvPr id="23" name="Text 21"/>
          <p:cNvSpPr/>
          <p:nvPr/>
        </p:nvSpPr>
        <p:spPr>
          <a:xfrm>
            <a:off x="10195560" y="196596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B46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PARCIAL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357616" y="2606040"/>
            <a:ext cx="29809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Canal 3 · WhatsApp oficial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357616" y="3035808"/>
            <a:ext cx="29809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9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 verificada da prefeitura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357616" y="3474720"/>
            <a:ext cx="298094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Guia em PDF + PIX copia-e-cola. Opt-in gerido conforme a LGPD.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357616" y="4983480"/>
            <a:ext cx="298094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</a:t>
            </a:r>
            <a:pPr indent="0" marL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Alagoinhas (envio) · CIM (consulta) — não universal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o DDA tem lastro de edital; e-mail certificado e WhatsApp são diferenciais que entregamos ALÉM do exigido.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mockup/prod_bi_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8288"/>
            <a:ext cx="12161520" cy="683971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mockup/prod_bi_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8288"/>
            <a:ext cx="12161520" cy="683971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mockup/prod_bi_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8288"/>
            <a:ext cx="12161520" cy="683971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D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MOCKUPS DE APOIO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mesma visão, em formatos de apoio</a:t>
            </a:r>
            <a:endParaRPr lang="en-US" sz="2400" dirty="0"/>
          </a:p>
        </p:txBody>
      </p:sp>
      <p:pic>
        <p:nvPicPr>
          <p:cNvPr id="4" name="Image 0" descr="/tmp/mockup/painel_secretar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463040"/>
            <a:ext cx="2059345" cy="4754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383280" y="1600200"/>
            <a:ext cx="8229600" cy="4363974"/>
          </a:xfrm>
          <a:prstGeom prst="roundRect">
            <a:avLst>
              <a:gd name="adj" fmla="val 1676"/>
            </a:avLst>
          </a:prstGeom>
          <a:solidFill>
            <a:srgbClr val="0E2A47"/>
          </a:solidFill>
          <a:ln w="12700">
            <a:solidFill>
              <a:srgbClr val="27405C"/>
            </a:solidFill>
            <a:prstDash val="solid"/>
          </a:ln>
        </p:spPr>
      </p:sp>
      <p:pic>
        <p:nvPicPr>
          <p:cNvPr id="6" name="Image 1" descr="/tmp/mockup/bi_geointeligenci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645920"/>
            <a:ext cx="8138160" cy="427253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383280" y="5943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i="1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Executivo no celular (o Secretário na rua) · e o mapa de inadimplência do IPTU por bairro — inteligência de arrecadação.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D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ISSO AFASTA AINDA MAIS DO BaaS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produto completo — e o BaaS cada vez menor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70048" cy="1554480"/>
          </a:xfrm>
          <a:prstGeom prst="roundRect">
            <a:avLst>
              <a:gd name="adj" fmla="val 5882"/>
            </a:avLst>
          </a:prstGeom>
          <a:solidFill>
            <a:srgbClr val="1B3A5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83080"/>
            <a:ext cx="22128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F0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04672" y="2468880"/>
            <a:ext cx="22128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consolidados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" y="2788920"/>
            <a:ext cx="22128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5 editais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01568" y="1600200"/>
            <a:ext cx="2670048" cy="1554480"/>
          </a:xfrm>
          <a:prstGeom prst="roundRect">
            <a:avLst>
              <a:gd name="adj" fmla="val 5882"/>
            </a:avLst>
          </a:prstGeom>
          <a:solidFill>
            <a:srgbClr val="1B3A5C"/>
          </a:solidFill>
          <a:ln/>
        </p:spPr>
      </p:sp>
      <p:sp>
        <p:nvSpPr>
          <p:cNvPr id="9" name="Text 7"/>
          <p:cNvSpPr/>
          <p:nvPr/>
        </p:nvSpPr>
        <p:spPr>
          <a:xfrm>
            <a:off x="3630168" y="1783080"/>
            <a:ext cx="22128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DE3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657600" y="2468880"/>
            <a:ext cx="22128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previstos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0" y="2788920"/>
            <a:ext cx="22128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no escopo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54496" y="1600200"/>
            <a:ext cx="2670048" cy="1554480"/>
          </a:xfrm>
          <a:prstGeom prst="roundRect">
            <a:avLst>
              <a:gd name="adj" fmla="val 5882"/>
            </a:avLst>
          </a:prstGeom>
          <a:solidFill>
            <a:srgbClr val="1B3A5C"/>
          </a:solidFill>
          <a:ln/>
        </p:spPr>
      </p:sp>
      <p:sp>
        <p:nvSpPr>
          <p:cNvPr id="13" name="Text 11"/>
          <p:cNvSpPr/>
          <p:nvPr/>
        </p:nvSpPr>
        <p:spPr>
          <a:xfrm>
            <a:off x="6483096" y="1783080"/>
            <a:ext cx="22128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510528" y="2468880"/>
            <a:ext cx="22128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incluir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10528" y="2788920"/>
            <a:ext cx="22128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lacunas mapeadas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07424" y="1600200"/>
            <a:ext cx="2670048" cy="1554480"/>
          </a:xfrm>
          <a:prstGeom prst="roundRect">
            <a:avLst>
              <a:gd name="adj" fmla="val 5882"/>
            </a:avLst>
          </a:prstGeom>
          <a:solidFill>
            <a:srgbClr val="1B3A5C"/>
          </a:solidFill>
          <a:ln/>
        </p:spPr>
      </p:sp>
      <p:sp>
        <p:nvSpPr>
          <p:cNvPr id="17" name="Text 15"/>
          <p:cNvSpPr/>
          <p:nvPr/>
        </p:nvSpPr>
        <p:spPr>
          <a:xfrm>
            <a:off x="9336024" y="1783080"/>
            <a:ext cx="22128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9363456" y="2468880"/>
            <a:ext cx="22128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mandatórios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363456" y="2788920"/>
            <a:ext cx="22128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Prova de Conceito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42900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1B3A5C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3611880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9DE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jogada: 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construímos para a UNIÃO dos cinco editais (o superset). Cobrindo esse superset, passamos em qualquer PoC e concorremos em qualquer município — e cada novo município vira esforço marginal quase zero.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489204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o recado para a turma: 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mais completa a aplicação fica por cima, mais o BaaS aparece como o que é — o andar de baixo, o trilho. Completude é o que enterra de vez a confusão de “concorrente do BaaS”.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Detalhe requisito a requisito, com fonte: PayProxy_Matriz_Blueprint.xlsx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FECHANDO A CONFUSÃO DA EQUIPE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a PjBank não é nossa concorrente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8778240" cy="1051560"/>
          </a:xfrm>
          <a:prstGeom prst="roundRect">
            <a:avLst>
              <a:gd name="adj" fmla="val 8696"/>
            </a:avLst>
          </a:prstGeom>
          <a:solidFill>
            <a:srgbClr val="F4F7FB"/>
          </a:solidFill>
          <a:ln w="12700">
            <a:solidFill>
              <a:srgbClr val="E1E9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46504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Mesmo comprador?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13055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PjBank vende para empresas e devs. Nós vendemos para o município.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9509760" y="1600200"/>
            <a:ext cx="2103120" cy="1051560"/>
          </a:xfrm>
          <a:prstGeom prst="roundRect">
            <a:avLst>
              <a:gd name="adj" fmla="val 8696"/>
            </a:avLst>
          </a:prstGeom>
          <a:solidFill>
            <a:srgbClr val="EAF4EE"/>
          </a:solidFill>
          <a:ln w="12700">
            <a:solidFill>
              <a:srgbClr val="CDE5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0" y="160020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7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8778240" cy="1051560"/>
          </a:xfrm>
          <a:prstGeom prst="roundRect">
            <a:avLst>
              <a:gd name="adj" fmla="val 8696"/>
            </a:avLst>
          </a:prstGeom>
          <a:solidFill>
            <a:srgbClr val="F4F7FB"/>
          </a:solidFill>
          <a:ln w="12700">
            <a:solidFill>
              <a:srgbClr val="E1E9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980944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Mesmo problema?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336499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PjBank fornece o trilho de pagamento. Nós gerimos a arrecadação.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9509760" y="2834640"/>
            <a:ext cx="2103120" cy="1051560"/>
          </a:xfrm>
          <a:prstGeom prst="roundRect">
            <a:avLst>
              <a:gd name="adj" fmla="val 8696"/>
            </a:avLst>
          </a:prstGeom>
          <a:solidFill>
            <a:srgbClr val="EAF4EE"/>
          </a:solidFill>
          <a:ln w="12700">
            <a:solidFill>
              <a:srgbClr val="CDE5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0" y="283464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7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48640" y="4069080"/>
            <a:ext cx="8778240" cy="1051560"/>
          </a:xfrm>
          <a:prstGeom prst="roundRect">
            <a:avLst>
              <a:gd name="adj" fmla="val 8696"/>
            </a:avLst>
          </a:prstGeom>
          <a:solidFill>
            <a:srgbClr val="F4F7FB"/>
          </a:solidFill>
          <a:ln w="12700">
            <a:solidFill>
              <a:srgbClr val="E1E9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215384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Mesmo contrato?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45994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PjBank nunca licita o SaaS de arrecadação. Nós, sim.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9509760" y="4069080"/>
            <a:ext cx="2103120" cy="1051560"/>
          </a:xfrm>
          <a:prstGeom prst="roundRect">
            <a:avLst>
              <a:gd name="adj" fmla="val 8696"/>
            </a:avLst>
          </a:prstGeom>
          <a:solidFill>
            <a:srgbClr val="EAF4EE"/>
          </a:solidFill>
          <a:ln w="12700">
            <a:solidFill>
              <a:srgbClr val="CDE5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09760" y="406908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7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48640" y="54864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prova concreta:  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própria PayProxy emite via BaaS (como a PjBank, a Celcoin, a QI Tech). A PjBank é fornecedor nosso. Chamá-la de concorrente é chamar o próprio fornecedor de concorrente.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PayProxy · Uso interno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D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equipe precisa levar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11064240" cy="987552"/>
          </a:xfrm>
          <a:prstGeom prst="roundRect">
            <a:avLst>
              <a:gd name="adj" fmla="val 7407"/>
            </a:avLst>
          </a:prstGeom>
          <a:solidFill>
            <a:srgbClr val="1B3A5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56816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somos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474720" y="1956816"/>
            <a:ext cx="7955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aplicação de arrecadação entre a prefeitura e o BaaS — não o BaaS.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916936"/>
            <a:ext cx="11064240" cy="987552"/>
          </a:xfrm>
          <a:prstGeom prst="roundRect">
            <a:avLst>
              <a:gd name="adj" fmla="val 7407"/>
            </a:avLst>
          </a:prstGeom>
          <a:solidFill>
            <a:srgbClr val="1B3A5C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044952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fazemos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474720" y="3044952"/>
            <a:ext cx="7955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Recebemos a base do IPTU, calculamos, orquestramos, conciliamos, cobramos pelos 3 canais e mostramos ao gestor.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4005072"/>
            <a:ext cx="11064240" cy="987552"/>
          </a:xfrm>
          <a:prstGeom prst="roundRect">
            <a:avLst>
              <a:gd name="adj" fmla="val 7407"/>
            </a:avLst>
          </a:prstGeom>
          <a:solidFill>
            <a:srgbClr val="1B3A5C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133088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Nosso diferencial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74720" y="4133088"/>
            <a:ext cx="7955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Geointeligência, IA na cobrança, LGPD embarcada e arquitetura jurídica — além do piso do edital.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5093208"/>
            <a:ext cx="11064240" cy="987552"/>
          </a:xfrm>
          <a:prstGeom prst="roundRect">
            <a:avLst>
              <a:gd name="adj" fmla="val 7407"/>
            </a:avLst>
          </a:prstGeom>
          <a:solidFill>
            <a:srgbClr val="1B3A5C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5221224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BaaS / a PjBank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74720" y="5221224"/>
            <a:ext cx="7955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trilho que usamos, não quem disputa a prefeitura. Parceiro, não concorrente.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PayProxy · Capacitação da Equipe · Julho/2026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2026-07-15T13:36:34Z</dcterms:created>
  <dcterms:modified xsi:type="dcterms:W3CDTF">2026-07-15T13:36:34Z</dcterms:modified>
</cp:coreProperties>
</file>